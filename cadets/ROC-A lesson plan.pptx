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Proxima Nova"/>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roximaNov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roximaNova-italic.fntdata"/><Relationship Id="rId16" Type="http://schemas.openxmlformats.org/officeDocument/2006/relationships/slide" Target="slides/slide11.xml"/><Relationship Id="rId38" Type="http://schemas.openxmlformats.org/officeDocument/2006/relationships/font" Target="fonts/ProximaNov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ea538c76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ea538c76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ea538c76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ea538c76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ea538c76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ea538c76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ea538c768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ea538c768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ea538c76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ea538c76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ea538c768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ea538c768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ea538c76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ea538c76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ea538c768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ea538c768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ea538c768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ea538c76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ea538c768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ea538c768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ea538c76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ea538c76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ea538c768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ea538c768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ea538c76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ea538c76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ea538c768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ea538c768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eb23e77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eb23e77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ea538c76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ea538c76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ea538c768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ea538c768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ea538c768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ea538c768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ea538c768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ea538c768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ea538c768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ea538c768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ea538c76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ea538c76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ea538c768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ea538c768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ea538c768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bea538c768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ea538c768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ea538c768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ea538c768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ea538c768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ea538c768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ea538c768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ea538c76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ea538c76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ea538c768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ea538c768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ea538c768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ea538c768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ea538c768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ea538c768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ised-isde.canada.ca/site/professional-radio-operator-certificate-services/en" TargetMode="External"/><Relationship Id="rId4" Type="http://schemas.openxmlformats.org/officeDocument/2006/relationships/hyperlink" Target="https://ised-isde.canada.ca/site/spectrum-management-telecommunications/sites/default/files/attachments/2022/ric21-upd-oct-2011.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liveatc.n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Radio lesson #1 - Principles</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CI Jadon Tsai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Housekeeping</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Photo ID</a:t>
            </a:r>
            <a:endParaRPr/>
          </a:p>
          <a:p>
            <a:pPr indent="-342900" lvl="0" marL="457200" rtl="0" algn="l">
              <a:spcBef>
                <a:spcPts val="0"/>
              </a:spcBef>
              <a:spcAft>
                <a:spcPts val="0"/>
              </a:spcAft>
              <a:buSzPts val="1800"/>
              <a:buChar char="-"/>
            </a:pPr>
            <a:r>
              <a:rPr lang="en"/>
              <a:t>Lunch</a:t>
            </a:r>
            <a:endParaRPr/>
          </a:p>
          <a:p>
            <a:pPr indent="-342900" lvl="0" marL="457200" rtl="0" algn="l">
              <a:spcBef>
                <a:spcPts val="0"/>
              </a:spcBef>
              <a:spcAft>
                <a:spcPts val="0"/>
              </a:spcAft>
              <a:buSzPts val="1800"/>
              <a:buChar char="-"/>
            </a:pPr>
            <a:r>
              <a:rPr lang="en"/>
              <a:t>Test</a:t>
            </a:r>
            <a:endParaRPr/>
          </a:p>
          <a:p>
            <a:pPr indent="-342900" lvl="0" marL="457200" rtl="0" algn="l">
              <a:spcBef>
                <a:spcPts val="0"/>
              </a:spcBef>
              <a:spcAft>
                <a:spcPts val="0"/>
              </a:spcAft>
              <a:buSzPts val="1800"/>
              <a:buChar char="-"/>
            </a:pPr>
            <a:r>
              <a:rPr lang="en"/>
              <a:t>Rewrites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ROC-A required to use aeronautical mobile frequencies (mostly 118.000 MHz to 136.975 MHz)</a:t>
            </a:r>
            <a:endParaRPr/>
          </a:p>
          <a:p>
            <a:pPr indent="-342900" lvl="0" marL="457200" rtl="0" algn="l">
              <a:spcBef>
                <a:spcPts val="0"/>
              </a:spcBef>
              <a:spcAft>
                <a:spcPts val="0"/>
              </a:spcAft>
              <a:buSzPts val="1800"/>
              <a:buChar char="-"/>
            </a:pPr>
            <a:r>
              <a:rPr lang="en"/>
              <a:t>Administered by Innovation, Science, and Economic Development Canada (</a:t>
            </a:r>
            <a:r>
              <a:rPr b="1" lang="en"/>
              <a:t>formerly</a:t>
            </a:r>
            <a:r>
              <a:rPr lang="en"/>
              <a:t> Industry Canada)</a:t>
            </a:r>
            <a:endParaRPr/>
          </a:p>
          <a:p>
            <a:pPr indent="-342900" lvl="0" marL="457200" rtl="0" algn="l">
              <a:spcBef>
                <a:spcPts val="0"/>
              </a:spcBef>
              <a:spcAft>
                <a:spcPts val="0"/>
              </a:spcAft>
              <a:buSzPts val="1800"/>
              <a:buChar char="-"/>
            </a:pPr>
            <a:r>
              <a:rPr lang="en" u="sng">
                <a:solidFill>
                  <a:schemeClr val="hlink"/>
                </a:solidFill>
                <a:hlinkClick r:id="rId3"/>
              </a:rPr>
              <a:t>https://ised-isde.canada.ca/site/professional-radio-operator-certificate-services/en</a:t>
            </a:r>
            <a:r>
              <a:rPr lang="en"/>
              <a:t> </a:t>
            </a:r>
            <a:endParaRPr/>
          </a:p>
          <a:p>
            <a:pPr indent="-342900" lvl="0" marL="457200" rtl="0" algn="l">
              <a:spcBef>
                <a:spcPts val="0"/>
              </a:spcBef>
              <a:spcAft>
                <a:spcPts val="0"/>
              </a:spcAft>
              <a:buSzPts val="1800"/>
              <a:buChar char="-"/>
            </a:pPr>
            <a:r>
              <a:rPr lang="en" u="sng">
                <a:solidFill>
                  <a:schemeClr val="hlink"/>
                </a:solidFill>
                <a:hlinkClick r:id="rId4"/>
              </a:rPr>
              <a:t>https://ised-isde.canada.ca/site/spectrum-management-telecommunications/sites/default/files/attachments/2022/ric21-upd-oct-2011.pdf</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Officially (you don’t need to know this):</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ROC-A is required by operators of radiotelephone equipment on board aircraft and at aeronautical land (fixed and mobile) radio stations using aeronautical mobile frequencies. The radiotelephone equipment at such stations shall be of a type that requires only simple external switching, has a power output not exceeding 250 watts effective radiated power (e.r.p.) – equivalent to 400 watts peak envelope power (PEP) – and where all frequency-determining elements are preset within the transceive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radios work?</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Aviation radios are AM</a:t>
            </a:r>
            <a:endParaRPr/>
          </a:p>
          <a:p>
            <a:pPr indent="-342900" lvl="0" marL="457200" rtl="0" algn="l">
              <a:spcBef>
                <a:spcPts val="0"/>
              </a:spcBef>
              <a:spcAft>
                <a:spcPts val="0"/>
              </a:spcAft>
              <a:buSzPts val="1800"/>
              <a:buChar char="-"/>
            </a:pPr>
            <a:r>
              <a:rPr lang="en"/>
              <a:t>3D (kind of), but we will consider 2D</a:t>
            </a:r>
            <a:endParaRPr/>
          </a:p>
          <a:p>
            <a:pPr indent="-342900" lvl="0" marL="457200" rtl="0" algn="l">
              <a:spcBef>
                <a:spcPts val="0"/>
              </a:spcBef>
              <a:spcAft>
                <a:spcPts val="0"/>
              </a:spcAft>
              <a:buSzPts val="1800"/>
              <a:buChar char="-"/>
            </a:pPr>
            <a:r>
              <a:rPr lang="en"/>
              <a:t>Hertz = 1/second</a:t>
            </a:r>
            <a:endParaRPr/>
          </a:p>
          <a:p>
            <a:pPr indent="-342900" lvl="0" marL="457200" rtl="0" algn="l">
              <a:spcBef>
                <a:spcPts val="0"/>
              </a:spcBef>
              <a:spcAft>
                <a:spcPts val="0"/>
              </a:spcAft>
              <a:buSzPts val="1800"/>
              <a:buChar char="-"/>
            </a:pPr>
            <a:r>
              <a:rPr lang="en"/>
              <a:t>Line of sight</a:t>
            </a:r>
            <a:endParaRPr/>
          </a:p>
          <a:p>
            <a:pPr indent="-342900" lvl="0" marL="457200" rtl="0" algn="l">
              <a:spcBef>
                <a:spcPts val="0"/>
              </a:spcBef>
              <a:spcAft>
                <a:spcPts val="0"/>
              </a:spcAft>
              <a:buSzPts val="1800"/>
              <a:buChar char="-"/>
            </a:pPr>
            <a:r>
              <a:rPr lang="en"/>
              <a:t>VHF vs HF (noise)</a:t>
            </a:r>
            <a:endParaRPr/>
          </a:p>
          <a:p>
            <a:pPr indent="-342900" lvl="0" marL="457200" rtl="0" algn="l">
              <a:spcBef>
                <a:spcPts val="0"/>
              </a:spcBef>
              <a:spcAft>
                <a:spcPts val="0"/>
              </a:spcAft>
              <a:buSzPts val="1800"/>
              <a:buChar char="-"/>
            </a:pPr>
            <a:r>
              <a:rPr lang="en"/>
              <a:t>Bandwidth</a:t>
            </a:r>
            <a:r>
              <a:rPr lang="en"/>
              <a:t> (5G issues)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8"/>
          <p:cNvPicPr preferRelativeResize="0"/>
          <p:nvPr/>
        </p:nvPicPr>
        <p:blipFill>
          <a:blip r:embed="rId3">
            <a:alphaModFix/>
          </a:blip>
          <a:stretch>
            <a:fillRect/>
          </a:stretch>
        </p:blipFill>
        <p:spPr>
          <a:xfrm>
            <a:off x="3451914" y="1017725"/>
            <a:ext cx="2240175" cy="38190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#2</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8" name="Google Shape;98;p19"/>
          <p:cNvPicPr preferRelativeResize="0"/>
          <p:nvPr/>
        </p:nvPicPr>
        <p:blipFill>
          <a:blip r:embed="rId3">
            <a:alphaModFix/>
          </a:blip>
          <a:stretch>
            <a:fillRect/>
          </a:stretch>
        </p:blipFill>
        <p:spPr>
          <a:xfrm>
            <a:off x="1663750" y="1099750"/>
            <a:ext cx="5631388" cy="3469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VLOC? DME? VOR?</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5" name="Google Shape;105;p20"/>
          <p:cNvPicPr preferRelativeResize="0"/>
          <p:nvPr/>
        </p:nvPicPr>
        <p:blipFill>
          <a:blip r:embed="rId3">
            <a:alphaModFix/>
          </a:blip>
          <a:stretch>
            <a:fillRect/>
          </a:stretch>
        </p:blipFill>
        <p:spPr>
          <a:xfrm>
            <a:off x="560900" y="1684575"/>
            <a:ext cx="4514850" cy="2533650"/>
          </a:xfrm>
          <a:prstGeom prst="rect">
            <a:avLst/>
          </a:prstGeom>
          <a:noFill/>
          <a:ln>
            <a:noFill/>
          </a:ln>
        </p:spPr>
      </p:pic>
      <p:pic>
        <p:nvPicPr>
          <p:cNvPr id="106" name="Google Shape;106;p20"/>
          <p:cNvPicPr preferRelativeResize="0"/>
          <p:nvPr/>
        </p:nvPicPr>
        <p:blipFill>
          <a:blip r:embed="rId4">
            <a:alphaModFix/>
          </a:blip>
          <a:stretch>
            <a:fillRect/>
          </a:stretch>
        </p:blipFill>
        <p:spPr>
          <a:xfrm>
            <a:off x="5812324" y="1152475"/>
            <a:ext cx="1961017" cy="348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Radio lesson #2 - Regulations</a:t>
            </a:r>
            <a:endParaRPr/>
          </a:p>
        </p:txBody>
      </p:sp>
      <p:sp>
        <p:nvSpPr>
          <p:cNvPr id="112" name="Google Shape;112;p21"/>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of communications</a:t>
            </a:r>
            <a:endParaRPr/>
          </a:p>
        </p:txBody>
      </p:sp>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Distress</a:t>
            </a:r>
            <a:endParaRPr/>
          </a:p>
          <a:p>
            <a:pPr indent="-342900" lvl="0" marL="457200" rtl="0" algn="l">
              <a:spcBef>
                <a:spcPts val="0"/>
              </a:spcBef>
              <a:spcAft>
                <a:spcPts val="0"/>
              </a:spcAft>
              <a:buSzPts val="1800"/>
              <a:buAutoNum type="arabicPeriod"/>
            </a:pPr>
            <a:r>
              <a:rPr lang="en"/>
              <a:t>Urgency</a:t>
            </a:r>
            <a:endParaRPr/>
          </a:p>
          <a:p>
            <a:pPr indent="-342900" lvl="0" marL="457200" rtl="0" algn="l">
              <a:spcBef>
                <a:spcPts val="0"/>
              </a:spcBef>
              <a:spcAft>
                <a:spcPts val="0"/>
              </a:spcAft>
              <a:buSzPts val="1800"/>
              <a:buAutoNum type="arabicPeriod"/>
            </a:pPr>
            <a:r>
              <a:rPr lang="en"/>
              <a:t>Radio direction finding</a:t>
            </a:r>
            <a:endParaRPr/>
          </a:p>
          <a:p>
            <a:pPr indent="-342900" lvl="0" marL="457200" rtl="0" algn="l">
              <a:spcBef>
                <a:spcPts val="0"/>
              </a:spcBef>
              <a:spcAft>
                <a:spcPts val="0"/>
              </a:spcAft>
              <a:buSzPts val="1800"/>
              <a:buAutoNum type="arabicPeriod"/>
            </a:pPr>
            <a:r>
              <a:rPr lang="en"/>
              <a:t>Flight safety messages</a:t>
            </a:r>
            <a:endParaRPr/>
          </a:p>
          <a:p>
            <a:pPr indent="-342900" lvl="0" marL="457200" rtl="0" algn="l">
              <a:spcBef>
                <a:spcPts val="0"/>
              </a:spcBef>
              <a:spcAft>
                <a:spcPts val="0"/>
              </a:spcAft>
              <a:buSzPts val="1800"/>
              <a:buAutoNum type="arabicPeriod"/>
            </a:pPr>
            <a:r>
              <a:rPr lang="en"/>
              <a:t>Meteorological messages</a:t>
            </a:r>
            <a:endParaRPr/>
          </a:p>
          <a:p>
            <a:pPr indent="-342900" lvl="0" marL="457200" rtl="0" algn="l">
              <a:spcBef>
                <a:spcPts val="0"/>
              </a:spcBef>
              <a:spcAft>
                <a:spcPts val="0"/>
              </a:spcAft>
              <a:buSzPts val="1800"/>
              <a:buAutoNum type="arabicPeriod"/>
            </a:pPr>
            <a:r>
              <a:rPr lang="en"/>
              <a:t>Flight regularity messages</a:t>
            </a:r>
            <a:endParaRPr/>
          </a:p>
          <a:p>
            <a:pPr indent="-342900" lvl="0" marL="457200" rtl="0" algn="l">
              <a:spcBef>
                <a:spcPts val="0"/>
              </a:spcBef>
              <a:spcAft>
                <a:spcPts val="0"/>
              </a:spcAft>
              <a:buSzPts val="1800"/>
              <a:buAutoNum type="arabicPeriod"/>
            </a:pPr>
            <a:r>
              <a:rPr lang="en"/>
              <a:t>Messages relating to the application of the United Nations Charter</a:t>
            </a:r>
            <a:endParaRPr/>
          </a:p>
          <a:p>
            <a:pPr indent="-342900" lvl="0" marL="457200" rtl="0" algn="l">
              <a:spcBef>
                <a:spcPts val="0"/>
              </a:spcBef>
              <a:spcAft>
                <a:spcPts val="0"/>
              </a:spcAft>
              <a:buSzPts val="1800"/>
              <a:buAutoNum type="arabicPeriod"/>
            </a:pPr>
            <a:r>
              <a:rPr lang="en"/>
              <a:t>Government messages for which priority has been expressly requested</a:t>
            </a:r>
            <a:endParaRPr/>
          </a:p>
          <a:p>
            <a:pPr indent="-342900" lvl="0" marL="457200" rtl="0" algn="l">
              <a:spcBef>
                <a:spcPts val="0"/>
              </a:spcBef>
              <a:spcAft>
                <a:spcPts val="0"/>
              </a:spcAft>
              <a:buSzPts val="1800"/>
              <a:buAutoNum type="arabicPeriod"/>
            </a:pPr>
            <a:r>
              <a:rPr lang="en"/>
              <a:t>Service communications relating to the workings of the telecommunication service or to communications previously exchanged</a:t>
            </a:r>
            <a:endParaRPr/>
          </a:p>
          <a:p>
            <a:pPr indent="-342900" lvl="0" marL="457200" rtl="0" algn="l">
              <a:spcBef>
                <a:spcPts val="0"/>
              </a:spcBef>
              <a:spcAft>
                <a:spcPts val="0"/>
              </a:spcAft>
              <a:buSzPts val="1800"/>
              <a:buAutoNum type="arabicPeriod"/>
            </a:pPr>
            <a:r>
              <a:rPr lang="en"/>
              <a:t>All other aeronautical communications.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Privacy of communications</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 communications are private</a:t>
            </a:r>
            <a:endParaRPr/>
          </a:p>
          <a:p>
            <a:pPr indent="-342900" lvl="0" marL="457200" rtl="0" algn="l">
              <a:spcBef>
                <a:spcPts val="0"/>
              </a:spcBef>
              <a:spcAft>
                <a:spcPts val="0"/>
              </a:spcAft>
              <a:buSzPts val="1800"/>
              <a:buChar char="-"/>
            </a:pPr>
            <a:r>
              <a:rPr lang="en"/>
              <a:t>EXCEPT:</a:t>
            </a:r>
            <a:endParaRPr/>
          </a:p>
          <a:p>
            <a:pPr indent="-317500" lvl="1" marL="914400" rtl="0" algn="l">
              <a:spcBef>
                <a:spcPts val="0"/>
              </a:spcBef>
              <a:spcAft>
                <a:spcPts val="0"/>
              </a:spcAft>
              <a:buSzPts val="1400"/>
              <a:buChar char="-"/>
            </a:pPr>
            <a:r>
              <a:rPr lang="en"/>
              <a:t>If given permission</a:t>
            </a:r>
            <a:endParaRPr/>
          </a:p>
          <a:p>
            <a:pPr indent="-317500" lvl="1" marL="914400" rtl="0" algn="l">
              <a:spcBef>
                <a:spcPts val="0"/>
              </a:spcBef>
              <a:spcAft>
                <a:spcPts val="0"/>
              </a:spcAft>
              <a:buSzPts val="1400"/>
              <a:buChar char="-"/>
            </a:pPr>
            <a:r>
              <a:rPr lang="en"/>
              <a:t>To the government/court</a:t>
            </a:r>
            <a:endParaRPr/>
          </a:p>
          <a:p>
            <a:pPr indent="-317500" lvl="1" marL="914400" rtl="0" algn="l">
              <a:spcBef>
                <a:spcPts val="0"/>
              </a:spcBef>
              <a:spcAft>
                <a:spcPts val="0"/>
              </a:spcAft>
              <a:buSzPts val="1400"/>
              <a:buChar char="-"/>
            </a:pPr>
            <a:r>
              <a:rPr lang="en"/>
              <a:t>To </a:t>
            </a:r>
            <a:r>
              <a:rPr lang="en"/>
              <a:t>forward</a:t>
            </a:r>
            <a:r>
              <a:rPr lang="en"/>
              <a:t> the message</a:t>
            </a:r>
            <a:endParaRPr/>
          </a:p>
          <a:p>
            <a:pPr indent="-317500" lvl="1" marL="914400" rtl="0" algn="l">
              <a:spcBef>
                <a:spcPts val="0"/>
              </a:spcBef>
              <a:spcAft>
                <a:spcPts val="0"/>
              </a:spcAft>
              <a:buSzPts val="1400"/>
              <a:buChar char="-"/>
            </a:pPr>
            <a:r>
              <a:rPr lang="en"/>
              <a:t>Distress/urgency/ALL STATIONS</a:t>
            </a:r>
            <a:endParaRPr/>
          </a:p>
          <a:p>
            <a:pPr indent="-342900" lvl="0" marL="457200" rtl="0" algn="l">
              <a:spcBef>
                <a:spcPts val="0"/>
              </a:spcBef>
              <a:spcAft>
                <a:spcPts val="0"/>
              </a:spcAft>
              <a:buSzPts val="1800"/>
              <a:buChar char="-"/>
            </a:pPr>
            <a:r>
              <a:rPr lang="en"/>
              <a:t>Fine of $25 000 and/or 1 year jail time</a:t>
            </a:r>
            <a:endParaRPr/>
          </a:p>
          <a:p>
            <a:pPr indent="-342900" lvl="0" marL="457200" rtl="0" algn="l">
              <a:spcBef>
                <a:spcPts val="0"/>
              </a:spcBef>
              <a:spcAft>
                <a:spcPts val="0"/>
              </a:spcAft>
              <a:buSzPts val="1800"/>
              <a:buChar char="-"/>
            </a:pPr>
            <a:r>
              <a:rPr lang="en"/>
              <a:t>$75 000 for a corporation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Superfluous</a:t>
            </a:r>
            <a:r>
              <a:rPr lang="en"/>
              <a:t> communication</a:t>
            </a:r>
            <a:endParaRPr/>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Generally professional </a:t>
            </a:r>
            <a:r>
              <a:rPr lang="en"/>
              <a:t>environment</a:t>
            </a:r>
            <a:endParaRPr/>
          </a:p>
          <a:p>
            <a:pPr indent="-342900" lvl="0" marL="457200" rtl="0" algn="l">
              <a:spcBef>
                <a:spcPts val="0"/>
              </a:spcBef>
              <a:spcAft>
                <a:spcPts val="0"/>
              </a:spcAft>
              <a:buSzPts val="1800"/>
              <a:buChar char="-"/>
            </a:pPr>
            <a:r>
              <a:rPr lang="en"/>
              <a:t>Cannot interfere (unless higher priority)</a:t>
            </a:r>
            <a:endParaRPr/>
          </a:p>
          <a:p>
            <a:pPr indent="-342900" lvl="0" marL="457200" rtl="0" algn="l">
              <a:spcBef>
                <a:spcPts val="0"/>
              </a:spcBef>
              <a:spcAft>
                <a:spcPts val="0"/>
              </a:spcAft>
              <a:buSzPts val="1800"/>
              <a:buChar char="-"/>
            </a:pPr>
            <a:r>
              <a:rPr lang="en"/>
              <a:t>False distress signals</a:t>
            </a:r>
            <a:endParaRPr/>
          </a:p>
          <a:p>
            <a:pPr indent="-342900" lvl="0" marL="457200" rtl="0" algn="l">
              <a:spcBef>
                <a:spcPts val="0"/>
              </a:spcBef>
              <a:spcAft>
                <a:spcPts val="0"/>
              </a:spcAft>
              <a:buSzPts val="1800"/>
              <a:buChar char="-"/>
            </a:pPr>
            <a:r>
              <a:rPr lang="en"/>
              <a:t>$5 000 and/or 1 year jail time</a:t>
            </a:r>
            <a:endParaRPr/>
          </a:p>
          <a:p>
            <a:pPr indent="-342900" lvl="0" marL="457200" rtl="0" algn="l">
              <a:spcBef>
                <a:spcPts val="0"/>
              </a:spcBef>
              <a:spcAft>
                <a:spcPts val="0"/>
              </a:spcAft>
              <a:buSzPts val="1800"/>
              <a:buChar char="-"/>
            </a:pPr>
            <a:r>
              <a:rPr lang="en"/>
              <a:t>$25 000 for a corporation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Word match!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signs</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Air to ground: </a:t>
            </a:r>
            <a:r>
              <a:rPr b="1" lang="en"/>
              <a:t>ground </a:t>
            </a:r>
            <a:r>
              <a:rPr lang="en"/>
              <a:t>station has control (generally aircraft initiates)</a:t>
            </a:r>
            <a:endParaRPr/>
          </a:p>
          <a:p>
            <a:pPr indent="-342900" lvl="0" marL="457200" rtl="0" algn="l">
              <a:spcBef>
                <a:spcPts val="0"/>
              </a:spcBef>
              <a:spcAft>
                <a:spcPts val="0"/>
              </a:spcAft>
              <a:buSzPts val="1800"/>
              <a:buChar char="-"/>
            </a:pPr>
            <a:r>
              <a:rPr lang="en"/>
              <a:t>Air to air: station being </a:t>
            </a:r>
            <a:r>
              <a:rPr b="1" lang="en"/>
              <a:t>called </a:t>
            </a:r>
            <a:r>
              <a:rPr lang="en"/>
              <a:t>has control</a:t>
            </a:r>
            <a:endParaRPr/>
          </a:p>
          <a:p>
            <a:pPr indent="-342900" lvl="0" marL="457200" rtl="0" algn="l">
              <a:spcBef>
                <a:spcPts val="0"/>
              </a:spcBef>
              <a:spcAft>
                <a:spcPts val="0"/>
              </a:spcAft>
              <a:buSzPts val="1800"/>
              <a:buChar char="-"/>
            </a:pPr>
            <a:r>
              <a:rPr lang="en"/>
              <a:t>Side note: call signs assigned by ISED for ground stations, based on letters for aircraft (assigned by Transport Canada)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Alphabet</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7"/>
          <p:cNvPicPr preferRelativeResize="0"/>
          <p:nvPr/>
        </p:nvPicPr>
        <p:blipFill>
          <a:blip r:embed="rId3">
            <a:alphaModFix/>
          </a:blip>
          <a:stretch>
            <a:fillRect/>
          </a:stretch>
        </p:blipFill>
        <p:spPr>
          <a:xfrm>
            <a:off x="2864233" y="1152475"/>
            <a:ext cx="4802266" cy="3991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Radio lesson #2 - Procedures</a:t>
            </a:r>
            <a:endParaRPr/>
          </a:p>
        </p:txBody>
      </p:sp>
      <p:sp>
        <p:nvSpPr>
          <p:cNvPr id="154" name="Google Shape;154;p28"/>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Numbers</a:t>
            </a:r>
            <a:endParaRPr/>
          </a:p>
        </p:txBody>
      </p:sp>
      <p:sp>
        <p:nvSpPr>
          <p:cNvPr id="160" name="Google Shape;16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GMT/UTC/Zulu </a:t>
            </a:r>
            <a:endParaRPr/>
          </a:p>
          <a:p>
            <a:pPr indent="-342900" lvl="0" marL="457200" rtl="0" algn="l">
              <a:spcBef>
                <a:spcPts val="0"/>
              </a:spcBef>
              <a:spcAft>
                <a:spcPts val="0"/>
              </a:spcAft>
              <a:buSzPts val="1800"/>
              <a:buChar char="-"/>
            </a:pPr>
            <a:r>
              <a:rPr lang="en"/>
              <a:t>If one time zone, can use local time</a:t>
            </a:r>
            <a:endParaRPr/>
          </a:p>
          <a:p>
            <a:pPr indent="-342900" lvl="0" marL="457200" rtl="0" algn="l">
              <a:spcBef>
                <a:spcPts val="0"/>
              </a:spcBef>
              <a:spcAft>
                <a:spcPts val="0"/>
              </a:spcAft>
              <a:buSzPts val="1800"/>
              <a:buChar char="-"/>
            </a:pPr>
            <a:r>
              <a:rPr lang="en"/>
              <a:t>24 hour time, just say 4 numbers </a:t>
            </a:r>
            <a:endParaRPr/>
          </a:p>
          <a:p>
            <a:pPr indent="-342900" lvl="0" marL="457200" rtl="0" algn="l">
              <a:spcBef>
                <a:spcPts val="0"/>
              </a:spcBef>
              <a:spcAft>
                <a:spcPts val="0"/>
              </a:spcAft>
              <a:buSzPts val="1800"/>
              <a:buChar char="-"/>
            </a:pPr>
            <a:r>
              <a:rPr lang="en"/>
              <a:t>If date, just say 6 numbers (DDTTTT)</a:t>
            </a:r>
            <a:endParaRPr/>
          </a:p>
          <a:p>
            <a:pPr indent="-342900" lvl="0" marL="457200" rtl="0" algn="l">
              <a:spcBef>
                <a:spcPts val="0"/>
              </a:spcBef>
              <a:spcAft>
                <a:spcPts val="0"/>
              </a:spcAft>
              <a:buSzPts val="1800"/>
              <a:buChar char="-"/>
            </a:pPr>
            <a:r>
              <a:rPr lang="en"/>
              <a:t>Digits except “thousand”</a:t>
            </a:r>
            <a:endParaRPr/>
          </a:p>
          <a:p>
            <a:pPr indent="-342900" lvl="0" marL="457200" rtl="0" algn="l">
              <a:spcBef>
                <a:spcPts val="0"/>
              </a:spcBef>
              <a:spcAft>
                <a:spcPts val="0"/>
              </a:spcAft>
              <a:buSzPts val="1800"/>
              <a:buChar char="-"/>
            </a:pPr>
            <a:r>
              <a:rPr lang="en"/>
              <a:t>“Decimal”, “dollar”, same order as writing</a:t>
            </a:r>
            <a:endParaRPr/>
          </a:p>
          <a:p>
            <a:pPr indent="-342900" lvl="0" marL="457200" rtl="0" algn="l">
              <a:spcBef>
                <a:spcPts val="0"/>
              </a:spcBef>
              <a:spcAft>
                <a:spcPts val="0"/>
              </a:spcAft>
              <a:buSzPts val="1800"/>
              <a:buChar char="-"/>
            </a:pPr>
            <a:r>
              <a:rPr lang="en"/>
              <a:t>Headings/field elevation, say that word first (also assumed magnetic in SDA)</a:t>
            </a:r>
            <a:endParaRPr/>
          </a:p>
          <a:p>
            <a:pPr indent="-342900" lvl="0" marL="457200" rtl="0" algn="l">
              <a:spcBef>
                <a:spcPts val="0"/>
              </a:spcBef>
              <a:spcAft>
                <a:spcPts val="0"/>
              </a:spcAft>
              <a:buSzPts val="1800"/>
              <a:buChar char="-"/>
            </a:pPr>
            <a:r>
              <a:rPr lang="en"/>
              <a:t>Type </a:t>
            </a:r>
            <a:r>
              <a:rPr lang="en"/>
              <a:t>numbers</a:t>
            </a:r>
            <a:r>
              <a:rPr lang="en"/>
              <a:t>, cloud heights, are in group (ten, sixty, etc.)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numbers</a:t>
            </a:r>
            <a:endParaRPr/>
          </a:p>
        </p:txBody>
      </p:sp>
      <p:sp>
        <p:nvSpPr>
          <p:cNvPr id="166" name="Google Shape;166;p3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0: zero</a:t>
            </a:r>
            <a:endParaRPr/>
          </a:p>
          <a:p>
            <a:pPr indent="0" lvl="0" marL="0" rtl="0" algn="l">
              <a:spcBef>
                <a:spcPts val="1200"/>
              </a:spcBef>
              <a:spcAft>
                <a:spcPts val="0"/>
              </a:spcAft>
              <a:buNone/>
            </a:pPr>
            <a:r>
              <a:rPr lang="en"/>
              <a:t>1: wun</a:t>
            </a:r>
            <a:endParaRPr/>
          </a:p>
          <a:p>
            <a:pPr indent="0" lvl="0" marL="0" rtl="0" algn="l">
              <a:spcBef>
                <a:spcPts val="1200"/>
              </a:spcBef>
              <a:spcAft>
                <a:spcPts val="0"/>
              </a:spcAft>
              <a:buNone/>
            </a:pPr>
            <a:r>
              <a:rPr lang="en"/>
              <a:t>2: too</a:t>
            </a:r>
            <a:endParaRPr/>
          </a:p>
          <a:p>
            <a:pPr indent="0" lvl="0" marL="0" rtl="0" algn="l">
              <a:spcBef>
                <a:spcPts val="1200"/>
              </a:spcBef>
              <a:spcAft>
                <a:spcPts val="0"/>
              </a:spcAft>
              <a:buNone/>
            </a:pPr>
            <a:r>
              <a:rPr lang="en"/>
              <a:t>3: tree</a:t>
            </a:r>
            <a:endParaRPr/>
          </a:p>
          <a:p>
            <a:pPr indent="0" lvl="0" marL="0" rtl="0" algn="l">
              <a:spcBef>
                <a:spcPts val="1200"/>
              </a:spcBef>
              <a:spcAft>
                <a:spcPts val="0"/>
              </a:spcAft>
              <a:buNone/>
            </a:pPr>
            <a:r>
              <a:rPr lang="en"/>
              <a:t>4: fower</a:t>
            </a:r>
            <a:endParaRPr/>
          </a:p>
          <a:p>
            <a:pPr indent="0" lvl="0" marL="0" rtl="0" algn="l">
              <a:spcBef>
                <a:spcPts val="1200"/>
              </a:spcBef>
              <a:spcAft>
                <a:spcPts val="0"/>
              </a:spcAft>
              <a:buNone/>
            </a:pPr>
            <a:r>
              <a:rPr lang="en"/>
              <a:t>5: fife</a:t>
            </a:r>
            <a:endParaRPr/>
          </a:p>
          <a:p>
            <a:pPr indent="0" lvl="0" marL="0" rtl="0" algn="l">
              <a:spcBef>
                <a:spcPts val="1200"/>
              </a:spcBef>
              <a:spcAft>
                <a:spcPts val="0"/>
              </a:spcAft>
              <a:buNone/>
            </a:pPr>
            <a:r>
              <a:rPr lang="en"/>
              <a:t>6: six</a:t>
            </a:r>
            <a:endParaRPr/>
          </a:p>
          <a:p>
            <a:pPr indent="0" lvl="0" marL="0" rtl="0" algn="l">
              <a:spcBef>
                <a:spcPts val="1200"/>
              </a:spcBef>
              <a:spcAft>
                <a:spcPts val="0"/>
              </a:spcAft>
              <a:buNone/>
            </a:pPr>
            <a:r>
              <a:rPr lang="en"/>
              <a:t>7: seven</a:t>
            </a:r>
            <a:endParaRPr/>
          </a:p>
          <a:p>
            <a:pPr indent="0" lvl="0" marL="0" rtl="0" algn="l">
              <a:spcBef>
                <a:spcPts val="1200"/>
              </a:spcBef>
              <a:spcAft>
                <a:spcPts val="0"/>
              </a:spcAft>
              <a:buNone/>
            </a:pPr>
            <a:r>
              <a:rPr lang="en"/>
              <a:t>8: ait</a:t>
            </a:r>
            <a:endParaRPr/>
          </a:p>
          <a:p>
            <a:pPr indent="0" lvl="0" marL="0" rtl="0" algn="l">
              <a:spcBef>
                <a:spcPts val="1200"/>
              </a:spcBef>
              <a:spcAft>
                <a:spcPts val="1200"/>
              </a:spcAft>
              <a:buNone/>
            </a:pPr>
            <a:r>
              <a:rPr lang="en"/>
              <a:t>9: niner</a:t>
            </a:r>
            <a:endParaRPr/>
          </a:p>
        </p:txBody>
      </p:sp>
      <p:sp>
        <p:nvSpPr>
          <p:cNvPr id="167" name="Google Shape;167;p3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Decimal: Dayseemal</a:t>
            </a:r>
            <a:endParaRPr/>
          </a:p>
          <a:p>
            <a:pPr indent="0" lvl="0" marL="0" rtl="0" algn="l">
              <a:spcBef>
                <a:spcPts val="1200"/>
              </a:spcBef>
              <a:spcAft>
                <a:spcPts val="1200"/>
              </a:spcAft>
              <a:buNone/>
            </a:pPr>
            <a:r>
              <a:rPr lang="en"/>
              <a:t>Thousand: Tousand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Procedures</a:t>
            </a:r>
            <a:endParaRPr/>
          </a:p>
        </p:txBody>
      </p:sp>
      <p:sp>
        <p:nvSpPr>
          <p:cNvPr id="173" name="Google Shape;173;p31"/>
          <p:cNvSpPr txBox="1"/>
          <p:nvPr>
            <p:ph idx="1" type="body"/>
          </p:nvPr>
        </p:nvSpPr>
        <p:spPr>
          <a:xfrm>
            <a:off x="311700" y="1152475"/>
            <a:ext cx="8520600" cy="3636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Before calling, wait and listen (unless you’re distress, urgency, safety)</a:t>
            </a:r>
            <a:endParaRPr/>
          </a:p>
          <a:p>
            <a:pPr indent="-342900" lvl="0" marL="457200" rtl="0" algn="l">
              <a:spcBef>
                <a:spcPts val="0"/>
              </a:spcBef>
              <a:spcAft>
                <a:spcPts val="0"/>
              </a:spcAft>
              <a:buSzPts val="1800"/>
              <a:buAutoNum type="arabicPeriod"/>
            </a:pPr>
            <a:r>
              <a:rPr lang="en"/>
              <a:t>Call sign of person being called</a:t>
            </a:r>
            <a:endParaRPr/>
          </a:p>
          <a:p>
            <a:pPr indent="-342900" lvl="0" marL="457200" rtl="0" algn="l">
              <a:spcBef>
                <a:spcPts val="0"/>
              </a:spcBef>
              <a:spcAft>
                <a:spcPts val="0"/>
              </a:spcAft>
              <a:buSzPts val="1800"/>
              <a:buAutoNum type="arabicPeriod"/>
            </a:pPr>
            <a:r>
              <a:rPr lang="en"/>
              <a:t>“This is”</a:t>
            </a:r>
            <a:endParaRPr/>
          </a:p>
          <a:p>
            <a:pPr indent="-342900" lvl="0" marL="457200" rtl="0" algn="l">
              <a:spcBef>
                <a:spcPts val="0"/>
              </a:spcBef>
              <a:spcAft>
                <a:spcPts val="0"/>
              </a:spcAft>
              <a:buSzPts val="1800"/>
              <a:buAutoNum type="arabicPeriod"/>
            </a:pPr>
            <a:r>
              <a:rPr lang="en"/>
              <a:t>Your call sign</a:t>
            </a:r>
            <a:endParaRPr/>
          </a:p>
          <a:p>
            <a:pPr indent="-342900" lvl="0" marL="457200" rtl="0" algn="l">
              <a:spcBef>
                <a:spcPts val="0"/>
              </a:spcBef>
              <a:spcAft>
                <a:spcPts val="0"/>
              </a:spcAft>
              <a:buSzPts val="1800"/>
              <a:buAutoNum type="arabicPeriod"/>
            </a:pPr>
            <a:r>
              <a:rPr lang="en"/>
              <a:t>The frequency you’re on</a:t>
            </a:r>
            <a:endParaRPr/>
          </a:p>
          <a:p>
            <a:pPr indent="-342900" lvl="0" marL="457200" rtl="0" algn="l">
              <a:spcBef>
                <a:spcPts val="0"/>
              </a:spcBef>
              <a:spcAft>
                <a:spcPts val="0"/>
              </a:spcAft>
              <a:buSzPts val="1800"/>
              <a:buChar char="-"/>
            </a:pPr>
            <a:r>
              <a:rPr lang="en"/>
              <a:t>There exist ALL STATION and multiple station calls (rare)</a:t>
            </a:r>
            <a:endParaRPr/>
          </a:p>
          <a:p>
            <a:pPr indent="-342900" lvl="0" marL="457200" rtl="0" algn="l">
              <a:spcBef>
                <a:spcPts val="0"/>
              </a:spcBef>
              <a:spcAft>
                <a:spcPts val="0"/>
              </a:spcAft>
              <a:buSzPts val="1800"/>
              <a:buChar char="-"/>
            </a:pPr>
            <a:r>
              <a:rPr lang="en"/>
              <a:t>Reply with the same, but either go ahead or standby</a:t>
            </a:r>
            <a:endParaRPr/>
          </a:p>
          <a:p>
            <a:pPr indent="-342900" lvl="0" marL="457200" rtl="0" algn="l">
              <a:spcBef>
                <a:spcPts val="0"/>
              </a:spcBef>
              <a:spcAft>
                <a:spcPts val="0"/>
              </a:spcAft>
              <a:buSzPts val="1800"/>
              <a:buChar char="-"/>
            </a:pPr>
            <a:r>
              <a:rPr lang="en"/>
              <a:t>If you don’t know if it’s for you, wait </a:t>
            </a:r>
            <a:endParaRPr/>
          </a:p>
          <a:p>
            <a:pPr indent="-342900" lvl="0" marL="457200" rtl="0" algn="l">
              <a:spcBef>
                <a:spcPts val="0"/>
              </a:spcBef>
              <a:spcAft>
                <a:spcPts val="0"/>
              </a:spcAft>
              <a:buSzPts val="1800"/>
              <a:buChar char="-"/>
            </a:pPr>
            <a:r>
              <a:rPr lang="en"/>
              <a:t>If you don’t know who called, ask (station calling)</a:t>
            </a:r>
            <a:endParaRPr/>
          </a:p>
          <a:p>
            <a:pPr indent="-342900" lvl="0" marL="457200" rtl="0" algn="l">
              <a:spcBef>
                <a:spcPts val="0"/>
              </a:spcBef>
              <a:spcAft>
                <a:spcPts val="0"/>
              </a:spcAft>
              <a:buSzPts val="1800"/>
              <a:buChar char="-"/>
            </a:pPr>
            <a:r>
              <a:rPr lang="en"/>
              <a:t>Can </a:t>
            </a:r>
            <a:r>
              <a:rPr lang="en"/>
              <a:t>abbreviate</a:t>
            </a:r>
            <a:r>
              <a:rPr lang="en"/>
              <a:t> callsigns on subsequent messages</a:t>
            </a:r>
            <a:endParaRPr/>
          </a:p>
          <a:p>
            <a:pPr indent="-342900" lvl="0" marL="457200" rtl="0" algn="l">
              <a:spcBef>
                <a:spcPts val="0"/>
              </a:spcBef>
              <a:spcAft>
                <a:spcPts val="0"/>
              </a:spcAft>
              <a:buSzPts val="1800"/>
              <a:buChar char="-"/>
            </a:pPr>
            <a:r>
              <a:rPr lang="en"/>
              <a:t>“Correction”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talk</a:t>
            </a:r>
            <a:endParaRPr/>
          </a:p>
        </p:txBody>
      </p:sp>
      <p:sp>
        <p:nvSpPr>
          <p:cNvPr id="179" name="Google Shape;17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Not to fast or too slow (the person may have to write down </a:t>
            </a:r>
            <a:r>
              <a:rPr lang="en"/>
              <a:t>what you’re saying)</a:t>
            </a:r>
            <a:endParaRPr/>
          </a:p>
          <a:p>
            <a:pPr indent="-342900" lvl="0" marL="457200" rtl="0" algn="l">
              <a:spcBef>
                <a:spcPts val="0"/>
              </a:spcBef>
              <a:spcAft>
                <a:spcPts val="0"/>
              </a:spcAft>
              <a:buSzPts val="1800"/>
              <a:buChar char="-"/>
            </a:pPr>
            <a:r>
              <a:rPr lang="en"/>
              <a:t>You probably have to eat the mic</a:t>
            </a:r>
            <a:endParaRPr/>
          </a:p>
        </p:txBody>
      </p:sp>
      <p:pic>
        <p:nvPicPr>
          <p:cNvPr id="180" name="Google Shape;180;p32"/>
          <p:cNvPicPr preferRelativeResize="0"/>
          <p:nvPr/>
        </p:nvPicPr>
        <p:blipFill>
          <a:blip r:embed="rId3">
            <a:alphaModFix/>
          </a:blip>
          <a:stretch>
            <a:fillRect/>
          </a:stretch>
        </p:blipFill>
        <p:spPr>
          <a:xfrm>
            <a:off x="4572000" y="1900050"/>
            <a:ext cx="4514850" cy="3009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Radio checks</a:t>
            </a:r>
            <a:endParaRPr/>
          </a:p>
        </p:txBody>
      </p:sp>
      <p:sp>
        <p:nvSpPr>
          <p:cNvPr id="186" name="Google Shape;18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Bad</a:t>
            </a:r>
            <a:endParaRPr/>
          </a:p>
          <a:p>
            <a:pPr indent="-342900" lvl="0" marL="457200" rtl="0" algn="l">
              <a:spcBef>
                <a:spcPts val="0"/>
              </a:spcBef>
              <a:spcAft>
                <a:spcPts val="0"/>
              </a:spcAft>
              <a:buSzPts val="1800"/>
              <a:buAutoNum type="arabicPeriod"/>
            </a:pPr>
            <a:r>
              <a:rPr lang="en"/>
              <a:t>Poor</a:t>
            </a:r>
            <a:endParaRPr/>
          </a:p>
          <a:p>
            <a:pPr indent="-342900" lvl="0" marL="457200" rtl="0" algn="l">
              <a:spcBef>
                <a:spcPts val="0"/>
              </a:spcBef>
              <a:spcAft>
                <a:spcPts val="0"/>
              </a:spcAft>
              <a:buSzPts val="1800"/>
              <a:buAutoNum type="arabicPeriod"/>
            </a:pPr>
            <a:r>
              <a:rPr lang="en"/>
              <a:t>Fair</a:t>
            </a:r>
            <a:endParaRPr/>
          </a:p>
          <a:p>
            <a:pPr indent="-342900" lvl="0" marL="457200" rtl="0" algn="l">
              <a:spcBef>
                <a:spcPts val="0"/>
              </a:spcBef>
              <a:spcAft>
                <a:spcPts val="0"/>
              </a:spcAft>
              <a:buSzPts val="1800"/>
              <a:buAutoNum type="arabicPeriod"/>
            </a:pPr>
            <a:r>
              <a:rPr lang="en"/>
              <a:t>Good</a:t>
            </a:r>
            <a:endParaRPr/>
          </a:p>
          <a:p>
            <a:pPr indent="-342900" lvl="0" marL="457200" rtl="0" algn="l">
              <a:spcBef>
                <a:spcPts val="0"/>
              </a:spcBef>
              <a:spcAft>
                <a:spcPts val="0"/>
              </a:spcAft>
              <a:buSzPts val="1800"/>
              <a:buAutoNum type="arabicPeriod"/>
            </a:pPr>
            <a:r>
              <a:rPr lang="en"/>
              <a:t>Excellent</a:t>
            </a:r>
            <a:endParaRPr/>
          </a:p>
          <a:p>
            <a:pPr indent="0" lvl="0" marL="0" rtl="0" algn="l">
              <a:spcBef>
                <a:spcPts val="1200"/>
              </a:spcBef>
              <a:spcAft>
                <a:spcPts val="1200"/>
              </a:spcAft>
              <a:buNone/>
            </a:pPr>
            <a:r>
              <a:rPr lang="en"/>
              <a:t>Not more than 10 seconds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Listening time!</a:t>
            </a:r>
            <a:endParaRPr/>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https://www.liveatc.net/</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Activity!</a:t>
            </a:r>
            <a:endParaRPr/>
          </a:p>
        </p:txBody>
      </p:sp>
      <p:sp>
        <p:nvSpPr>
          <p:cNvPr id="198" name="Google Shape;198;p35"/>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Alphabet</a:t>
            </a:r>
            <a:endParaRPr/>
          </a:p>
        </p:txBody>
      </p:sp>
      <p:sp>
        <p:nvSpPr>
          <p:cNvPr id="204" name="Google Shape;20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6"/>
          <p:cNvPicPr preferRelativeResize="0"/>
          <p:nvPr/>
        </p:nvPicPr>
        <p:blipFill>
          <a:blip r:embed="rId3">
            <a:alphaModFix/>
          </a:blip>
          <a:stretch>
            <a:fillRect/>
          </a:stretch>
        </p:blipFill>
        <p:spPr>
          <a:xfrm>
            <a:off x="2864233" y="1152475"/>
            <a:ext cx="4802266" cy="3991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 good situations</a:t>
            </a:r>
            <a:endParaRPr/>
          </a:p>
        </p:txBody>
      </p:sp>
      <p:sp>
        <p:nvSpPr>
          <p:cNvPr id="211" name="Google Shape;211;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Distress: A condition of being threatened by grave and/or imminent danger and requiring immediate assistance.</a:t>
            </a:r>
            <a:endParaRPr/>
          </a:p>
          <a:p>
            <a:pPr indent="0" lvl="0" marL="0" rtl="0" algn="l">
              <a:spcBef>
                <a:spcPts val="1200"/>
              </a:spcBef>
              <a:spcAft>
                <a:spcPts val="0"/>
              </a:spcAft>
              <a:buNone/>
            </a:pPr>
            <a:r>
              <a:rPr lang="en"/>
              <a:t>Urgency: A condition concerning the safety of an aircraft or other vehicle, or of someone on board or within sight, but which does not require immediate assistance.</a:t>
            </a:r>
            <a:endParaRPr/>
          </a:p>
          <a:p>
            <a:pPr indent="-342900" lvl="0" marL="457200" rtl="0" algn="l">
              <a:spcBef>
                <a:spcPts val="1200"/>
              </a:spcBef>
              <a:spcAft>
                <a:spcPts val="0"/>
              </a:spcAft>
              <a:buSzPts val="1800"/>
              <a:buChar char="-"/>
            </a:pPr>
            <a:r>
              <a:rPr lang="en"/>
              <a:t>Try your frequency first, then move to 121.5 MHz (your ELT broadcasts there and 406 MHz)</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Distress</a:t>
            </a:r>
            <a:endParaRPr/>
          </a:p>
        </p:txBody>
      </p:sp>
      <p:sp>
        <p:nvSpPr>
          <p:cNvPr id="217" name="Google Shape;21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Initially: Mayday x3, your callsign x3 (does not need acknowledgement)</a:t>
            </a:r>
            <a:endParaRPr/>
          </a:p>
          <a:p>
            <a:pPr indent="0" lvl="0" marL="0" rtl="0" algn="l">
              <a:spcBef>
                <a:spcPts val="1200"/>
              </a:spcBef>
              <a:spcAft>
                <a:spcPts val="0"/>
              </a:spcAft>
              <a:buNone/>
            </a:pPr>
            <a:r>
              <a:rPr lang="en"/>
              <a:t>Then: </a:t>
            </a:r>
            <a:endParaRPr/>
          </a:p>
          <a:p>
            <a:pPr indent="-342900" lvl="0" marL="457200" rtl="0" algn="l">
              <a:spcBef>
                <a:spcPts val="1200"/>
              </a:spcBef>
              <a:spcAft>
                <a:spcPts val="0"/>
              </a:spcAft>
              <a:buSzPts val="1800"/>
              <a:buAutoNum type="arabicPeriod"/>
            </a:pPr>
            <a:r>
              <a:rPr lang="en"/>
              <a:t>“Mayday”</a:t>
            </a:r>
            <a:endParaRPr/>
          </a:p>
          <a:p>
            <a:pPr indent="-342900" lvl="0" marL="457200" rtl="0" algn="l">
              <a:spcBef>
                <a:spcPts val="0"/>
              </a:spcBef>
              <a:spcAft>
                <a:spcPts val="0"/>
              </a:spcAft>
              <a:buSzPts val="1800"/>
              <a:buAutoNum type="arabicPeriod"/>
            </a:pPr>
            <a:r>
              <a:rPr lang="en"/>
              <a:t>Your callsign</a:t>
            </a:r>
            <a:endParaRPr/>
          </a:p>
          <a:p>
            <a:pPr indent="-342900" lvl="0" marL="457200" rtl="0" algn="l">
              <a:spcBef>
                <a:spcPts val="0"/>
              </a:spcBef>
              <a:spcAft>
                <a:spcPts val="0"/>
              </a:spcAft>
              <a:buSzPts val="1800"/>
              <a:buAutoNum type="arabicPeriod"/>
            </a:pPr>
            <a:r>
              <a:rPr lang="en"/>
              <a:t>Your issue and intentions</a:t>
            </a:r>
            <a:endParaRPr/>
          </a:p>
          <a:p>
            <a:pPr indent="-342900" lvl="0" marL="457200" rtl="0" algn="l">
              <a:spcBef>
                <a:spcPts val="0"/>
              </a:spcBef>
              <a:spcAft>
                <a:spcPts val="0"/>
              </a:spcAft>
              <a:buSzPts val="1800"/>
              <a:buAutoNum type="arabicPeriod"/>
            </a:pPr>
            <a:r>
              <a:rPr lang="en"/>
              <a:t>Where you are</a:t>
            </a:r>
            <a:endParaRPr/>
          </a:p>
          <a:p>
            <a:pPr indent="-342900" lvl="0" marL="457200" rtl="0" algn="l">
              <a:spcBef>
                <a:spcPts val="0"/>
              </a:spcBef>
              <a:spcAft>
                <a:spcPts val="0"/>
              </a:spcAft>
              <a:buSzPts val="1800"/>
              <a:buAutoNum type="arabicPeriod"/>
            </a:pPr>
            <a:r>
              <a:rPr lang="en"/>
              <a:t>People on board</a:t>
            </a:r>
            <a:endParaRPr/>
          </a:p>
          <a:p>
            <a:pPr indent="-342900" lvl="0" marL="457200" rtl="0" algn="l">
              <a:spcBef>
                <a:spcPts val="0"/>
              </a:spcBef>
              <a:spcAft>
                <a:spcPts val="0"/>
              </a:spcAft>
              <a:buSzPts val="1800"/>
              <a:buAutoNum type="arabicPeriod"/>
            </a:pPr>
            <a:r>
              <a:rPr lang="en"/>
              <a:t>Other info</a:t>
            </a:r>
            <a:endParaRPr/>
          </a:p>
          <a:p>
            <a:pPr indent="-342900" lvl="0" marL="457200" rtl="0" algn="l">
              <a:spcBef>
                <a:spcPts val="0"/>
              </a:spcBef>
              <a:spcAft>
                <a:spcPts val="0"/>
              </a:spcAft>
              <a:buSzPts val="1800"/>
              <a:buAutoNum type="arabicPeriod"/>
            </a:pPr>
            <a:r>
              <a:rPr lang="en"/>
              <a:t>Your callsign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Cont’d</a:t>
            </a:r>
            <a:endParaRPr/>
          </a:p>
        </p:txBody>
      </p:sp>
      <p:sp>
        <p:nvSpPr>
          <p:cNvPr id="223" name="Google Shape;22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Need to repeat until someone acknowledges it, can get relayed (</a:t>
            </a:r>
            <a:r>
              <a:rPr lang="en"/>
              <a:t>remember</a:t>
            </a:r>
            <a:r>
              <a:rPr lang="en"/>
              <a:t> line of sight?)</a:t>
            </a:r>
            <a:endParaRPr/>
          </a:p>
          <a:p>
            <a:pPr indent="-342900" lvl="0" marL="457200" rtl="0" algn="l">
              <a:spcBef>
                <a:spcPts val="0"/>
              </a:spcBef>
              <a:spcAft>
                <a:spcPts val="0"/>
              </a:spcAft>
              <a:buSzPts val="1800"/>
              <a:buChar char="-"/>
            </a:pPr>
            <a:r>
              <a:rPr lang="en"/>
              <a:t>“Seelonce mayday” until cancelled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Urgency</a:t>
            </a:r>
            <a:endParaRPr/>
          </a:p>
        </p:txBody>
      </p:sp>
      <p:sp>
        <p:nvSpPr>
          <p:cNvPr id="229" name="Google Shape;229;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Has to be </a:t>
            </a:r>
            <a:r>
              <a:rPr lang="en"/>
              <a:t>addressed</a:t>
            </a:r>
            <a:r>
              <a:rPr lang="en"/>
              <a:t> to someone or everyone</a:t>
            </a:r>
            <a:endParaRPr/>
          </a:p>
          <a:p>
            <a:pPr indent="-342900" lvl="0" marL="457200" rtl="0" algn="l">
              <a:spcBef>
                <a:spcPts val="0"/>
              </a:spcBef>
              <a:spcAft>
                <a:spcPts val="0"/>
              </a:spcAft>
              <a:buSzPts val="1800"/>
              <a:buChar char="-"/>
            </a:pPr>
            <a:r>
              <a:rPr lang="en"/>
              <a:t>PAN PAN</a:t>
            </a:r>
            <a:endParaRPr/>
          </a:p>
          <a:p>
            <a:pPr indent="-342900" lvl="0" marL="457200" rtl="0" algn="l">
              <a:spcBef>
                <a:spcPts val="0"/>
              </a:spcBef>
              <a:spcAft>
                <a:spcPts val="0"/>
              </a:spcAft>
              <a:buSzPts val="1800"/>
              <a:buChar char="-"/>
            </a:pPr>
            <a:r>
              <a:rPr lang="en"/>
              <a:t>If not all stations, can continue talking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Activity!</a:t>
            </a:r>
            <a:endParaRPr/>
          </a:p>
        </p:txBody>
      </p:sp>
      <p:sp>
        <p:nvSpPr>
          <p:cNvPr id="235" name="Google Shape;235;p4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(again)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Alphabet</a:t>
            </a:r>
            <a:endParaRPr/>
          </a:p>
        </p:txBody>
      </p:sp>
      <p:sp>
        <p:nvSpPr>
          <p:cNvPr id="241" name="Google Shape;24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2" name="Google Shape;242;p42"/>
          <p:cNvPicPr preferRelativeResize="0"/>
          <p:nvPr/>
        </p:nvPicPr>
        <p:blipFill>
          <a:blip r:embed="rId3">
            <a:alphaModFix/>
          </a:blip>
          <a:stretch>
            <a:fillRect/>
          </a:stretch>
        </p:blipFill>
        <p:spPr>
          <a:xfrm>
            <a:off x="2864233" y="1152475"/>
            <a:ext cx="4802266" cy="3991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Test</a:t>
            </a:r>
            <a:endParaRPr/>
          </a:p>
        </p:txBody>
      </p:sp>
      <p:sp>
        <p:nvSpPr>
          <p:cNvPr id="248" name="Google Shape;248;p43"/>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